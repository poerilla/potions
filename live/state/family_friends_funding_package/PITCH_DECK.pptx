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2542032"/>
            <a:ext cx="93268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0">
                <a:solidFill>
                  <a:srgbClr val="2D64A5"/>
                </a:solidFill>
                <a:latin typeface="Aptos"/>
              </a:rPr>
              <a:t>Nasdaq Intraday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69264" y="3108960"/>
            <a:ext cx="9098280" cy="10972"/>
          </a:xfrm>
          <a:prstGeom prst="rect">
            <a:avLst/>
          </a:prstGeom>
          <a:solidFill>
            <a:srgbClr val="B5B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3310128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ACACB0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3703320"/>
            <a:ext cx="7269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546070"/>
                </a:solidFill>
                <a:latin typeface="Aptos"/>
              </a:rPr>
              <a:t>Private funding deck for a CTA-registration-first 12-month build/test runway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4050791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546070"/>
                </a:solidFill>
                <a:latin typeface="Aptos"/>
              </a:rPr>
              <a:t>Target raise: $145,000  |  First test tier: Nasdaq Intraday 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6510528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898B90"/>
                </a:solidFill>
                <a:latin typeface="Aptos"/>
              </a:rPr>
              <a:t>CONFIDENTIAL RESEARCH DRAFT. HYPOTHETICAL/BACKTESTED PERFORMANCE IS NOT INDICATIVE OF FUTURE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Risk Disclosure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RESEARCH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984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41C26"/>
                </a:solidFill>
                <a:latin typeface="Aptos"/>
              </a:rPr>
              <a:t>The risk of loss in futures trading can be substantial. Futures are leveraged instruments; adverse moves, gaps, liquidity events, data failures, or order-routing failures can produce losses materially different from historical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06984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41C26"/>
                </a:solidFill>
                <a:latin typeface="Aptos"/>
              </a:rPr>
              <a:t>This deck presents hypothetical and backtested research, not audited live CTA performance. It is intended to support a private build-and-validation discussion. No compensated futures advice, managed client trading, or client account direction should begin until counsel confirms the required registration/exemption, disclosure, broker, tax, accounting, and compliance path.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246120"/>
          <a:ext cx="1056131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686800"/>
              </a:tblGrid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Risk Area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Control Intent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41C26"/>
                          </a:solidFill>
                          <a:latin typeface="Aptos"/>
                        </a:rPr>
                        <a:t>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41C26"/>
                          </a:solidFill>
                          <a:latin typeface="Aptos"/>
                        </a:rPr>
                        <a:t>Match live order sequencing to post-session replay and broker-paper reviews.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41C26"/>
                          </a:solidFill>
                          <a:latin typeface="Aptos"/>
                        </a:rPr>
                        <a:t>Sizing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41C26"/>
                          </a:solidFill>
                          <a:latin typeface="Aptos"/>
                        </a:rPr>
                        <a:t>Use historical intrabar stress drawdown as the account-sizing anchor.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41C26"/>
                          </a:solidFill>
                          <a:latin typeface="Aptos"/>
                        </a:rPr>
                        <a:t>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41C26"/>
                          </a:solidFill>
                          <a:latin typeface="Aptos"/>
                        </a:rPr>
                        <a:t>Stale-feed blocks, daily flattening, position reconciliation, and manual kill switch.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41C26"/>
                          </a:solidFill>
                          <a:latin typeface="Aptos"/>
                        </a:rPr>
                        <a:t>Investor 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41C26"/>
                          </a:solidFill>
                          <a:latin typeface="Aptos"/>
                        </a:rPr>
                        <a:t>Private diligence only until CTA registration/exemption and counsel-approved materials exist.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376672"/>
            <a:ext cx="9601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D64A5"/>
                </a:solidFill>
                <a:latin typeface="Aptos"/>
              </a:rPr>
              <a:t>Stops and protective orders cannot guarantee fills at intended prices during fast markets.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Fair Benchmark Scaling 10Y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$50K EQUITY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pic>
        <p:nvPicPr>
          <p:cNvPr id="6" name="Picture 5" descr="scaling_10y_nq_prior_vs_qqq_50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9379"/>
            <a:ext cx="7178040" cy="338196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2D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143000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Fixed one-base-book NQ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64208"/>
            <a:ext cx="35204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FFFFFF"/>
                </a:solidFill>
                <a:latin typeface="Aptos"/>
              </a:rPr>
              <a:t>A $50k starting account is used here only as a fair benchmark scaling exhibit against fully invested QQQ. This fixed-base NQ study is not the 3x-stress live sizing 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971800"/>
            <a:ext cx="35204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FFFFFF"/>
                </a:solidFill>
                <a:latin typeface="Aptos"/>
              </a:rPr>
              <a:t>The exhibit shows the historical path that produced the table below. It is a research comparison, not a promise of capacity or future returns.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66344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2016-2025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5074920"/>
          <a:ext cx="726948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60120"/>
                <a:gridCol w="960120"/>
                <a:gridCol w="868680"/>
                <a:gridCol w="777240"/>
                <a:gridCol w="594360"/>
                <a:gridCol w="1280160"/>
              </a:tblGrid>
              <a:tr h="280416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Sleeve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End Capital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Net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Max DD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Return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Net/DD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Peak Size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Prior-opposed intraday NQ fixed 1 base 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$1,632,101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$1,582,101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$-63,617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3164.2%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24.87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5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QQQ fully invested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$301,589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$251,589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$-67,833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503.2%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3.71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full ETF capital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Program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MECHANICAL INTRADAY FUTURES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280160"/>
            <a:ext cx="2377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2D64A5"/>
                </a:solidFill>
                <a:latin typeface="Aptos"/>
              </a:rPr>
              <a:t>Nasdaq futures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971800" cy="2240280"/>
          </a:xfrm>
          <a:prstGeom prst="rect">
            <a:avLst/>
          </a:prstGeom>
          <a:solidFill>
            <a:srgbClr val="FCFD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84831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D64A5"/>
                </a:solidFill>
                <a:latin typeface="Aptos"/>
              </a:rPr>
              <a:t>Liquidity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78608"/>
            <a:ext cx="24688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10" b="0">
                <a:solidFill>
                  <a:srgbClr val="141C26"/>
                </a:solidFill>
                <a:latin typeface="Aptos"/>
              </a:rPr>
              <a:t>The model observes an early directional move and waits for the market to reveal an adversarial setup rather than chasing every break.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828800"/>
            <a:ext cx="2971800" cy="2240280"/>
          </a:xfrm>
          <a:prstGeom prst="rect">
            <a:avLst/>
          </a:prstGeom>
          <a:solidFill>
            <a:srgbClr val="FCFD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84831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D64A5"/>
                </a:solidFill>
                <a:latin typeface="Aptos"/>
              </a:rPr>
              <a:t>Prior opposing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578608"/>
            <a:ext cx="24688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10" b="0">
                <a:solidFill>
                  <a:srgbClr val="141C26"/>
                </a:solidFill>
                <a:latin typeface="Aptos"/>
              </a:rPr>
              <a:t>A higher-timeframe proprietary condition, including prior-month reference context, must be known before the campaign can arm.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44383" y="1828800"/>
            <a:ext cx="2971800" cy="2240280"/>
          </a:xfrm>
          <a:prstGeom prst="rect">
            <a:avLst/>
          </a:prstGeom>
          <a:solidFill>
            <a:srgbClr val="FCFD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084831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D64A5"/>
                </a:solidFill>
                <a:latin typeface="Aptos"/>
              </a:rPr>
              <a:t>Mechanical price-action campaign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415" y="2578608"/>
            <a:ext cx="24688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10" b="0">
                <a:solidFill>
                  <a:srgbClr val="141C26"/>
                </a:solidFill>
                <a:latin typeface="Aptos"/>
              </a:rPr>
              <a:t>Once eligible, execution is handled by a fixed intraday playbook with predefined entries, exits, stops, and session-end flattening.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1952" y="4572000"/>
            <a:ext cx="8394192" cy="749808"/>
          </a:xfrm>
          <a:prstGeom prst="rect">
            <a:avLst/>
          </a:prstGeom>
          <a:solidFill>
            <a:srgbClr val="F6FAFD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4773168"/>
            <a:ext cx="78638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40" b="0">
                <a:solidFill>
                  <a:srgbClr val="141C26"/>
                </a:solidFill>
                <a:latin typeface="Aptos"/>
              </a:rPr>
              <a:t>Optimization work remains conservative: reduce or downshift exposure when very large opening ranges historically degraded edge, while preserving most upside when the setup remains clean.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WHAT THE PROGRAM IS DESIGNED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61872"/>
            <a:ext cx="2880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D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19"/>
            <a:ext cx="24871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60" b="1">
                <a:solidFill>
                  <a:srgbClr val="2D64A5"/>
                </a:solidFill>
                <a:latin typeface="Aptos"/>
              </a:rPr>
              <a:t>Agnostic but selective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67328" y="1426463"/>
            <a:ext cx="502920" cy="219456"/>
          </a:xfrm>
          <a:prstGeom prst="rightArrow">
            <a:avLst/>
          </a:prstGeom>
          <a:solidFill>
            <a:srgbClr val="2D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6583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41C26"/>
                </a:solidFill>
                <a:latin typeface="Aptos"/>
              </a:rPr>
              <a:t>The strategy can accept either long or short exposure on a given day, but only after the proprietary condition allows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39"/>
            <a:ext cx="2880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D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7"/>
            <a:ext cx="24871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60" b="1">
                <a:solidFill>
                  <a:srgbClr val="2D64A5"/>
                </a:solidFill>
                <a:latin typeface="Aptos"/>
              </a:rPr>
              <a:t>Adversarial NQ behavior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67328" y="2542032"/>
            <a:ext cx="502920" cy="219456"/>
          </a:xfrm>
          <a:prstGeom prst="rightArrow">
            <a:avLst/>
          </a:prstGeom>
          <a:solidFill>
            <a:srgbClr val="2D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7"/>
            <a:ext cx="6583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41C26"/>
                </a:solidFill>
                <a:latin typeface="Aptos"/>
              </a:rPr>
              <a:t>The research is designed around the Nasdaq's tendency to punish the first obvious impulse and reward cleaner conditional follow-through.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93007"/>
            <a:ext cx="2880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D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48455"/>
            <a:ext cx="24871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60" b="1">
                <a:solidFill>
                  <a:srgbClr val="2D64A5"/>
                </a:solidFill>
                <a:latin typeface="Aptos"/>
              </a:rPr>
              <a:t>Low market-beta dependence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67328" y="3657599"/>
            <a:ext cx="502920" cy="219456"/>
          </a:xfrm>
          <a:prstGeom prst="rightArrow">
            <a:avLst/>
          </a:prstGeom>
          <a:solidFill>
            <a:srgbClr val="2D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511295"/>
            <a:ext cx="6583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41C26"/>
                </a:solidFill>
                <a:latin typeface="Aptos"/>
              </a:rPr>
              <a:t>Daily returns in the current research set are not simply a proxy for QQQ. The strategy is meant to diversify stock-heavy portfolios.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08575"/>
            <a:ext cx="2880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D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64023"/>
            <a:ext cx="24871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60" b="1">
                <a:solidFill>
                  <a:srgbClr val="2D64A5"/>
                </a:solidFill>
                <a:latin typeface="Aptos"/>
              </a:rPr>
              <a:t>Execution first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67328" y="4773167"/>
            <a:ext cx="502920" cy="219456"/>
          </a:xfrm>
          <a:prstGeom prst="rightArrow">
            <a:avLst/>
          </a:prstGeom>
          <a:solidFill>
            <a:srgbClr val="2D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626863"/>
            <a:ext cx="6583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41C26"/>
                </a:solidFill>
                <a:latin typeface="Aptos"/>
              </a:rPr>
              <a:t>The build phase focuses on matching live order flow, saved data, and post-session replay before any broader capital discussion.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Behavior In Different Market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QQQ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pic>
        <p:nvPicPr>
          <p:cNvPr id="6" name="Picture 5" descr="daily_correlation_to_q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2955"/>
            <a:ext cx="5166360" cy="275539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1143000"/>
          <a:ext cx="5074920" cy="14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731520"/>
                <a:gridCol w="2286000"/>
              </a:tblGrid>
              <a:tr h="288950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System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Corr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QQQ Down-Year Avg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MNQ Prior-Opposed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-0.06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NQ Prior-Opposed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-0.07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39.1%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MNQ Ungated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-0.08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19.5%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952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NQ Ungated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-0.05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41C26"/>
                          </a:solidFill>
                          <a:latin typeface="Aptos"/>
                        </a:rPr>
                        <a:t>40.1%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55080" y="2999232"/>
            <a:ext cx="4572000" cy="17373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170">
                <a:solidFill>
                  <a:srgbClr val="141C26"/>
                </a:solidFill>
                <a:latin typeface="Aptos"/>
              </a:defRPr>
            </a:pPr>
            <a:r>
              <a:t>• The strategy is not designed to be continuously long Nasdaq exposure.</a:t>
            </a:r>
          </a:p>
          <a:p>
            <a:pPr>
              <a:spcAft>
                <a:spcPts val="500"/>
              </a:spcAft>
              <a:defRPr sz="1170">
                <a:solidFill>
                  <a:srgbClr val="141C26"/>
                </a:solidFill>
                <a:latin typeface="Aptos"/>
              </a:defRPr>
            </a:pPr>
            <a:r>
              <a:t>• In the 2020 shock/recovery year, the fixed NQ study returned 349.5% vs QQQ at 46.0%.</a:t>
            </a:r>
          </a:p>
          <a:p>
            <a:pPr>
              <a:spcAft>
                <a:spcPts val="500"/>
              </a:spcAft>
              <a:defRPr sz="1170">
                <a:solidFill>
                  <a:srgbClr val="141C26"/>
                </a:solidFill>
                <a:latin typeface="Aptos"/>
              </a:defRPr>
            </a:pPr>
            <a:r>
              <a:t>• The weakest historical stress came from execution/range conditions rather than broad market direction alone.</a:t>
            </a:r>
          </a:p>
          <a:p>
            <a:pPr>
              <a:spcAft>
                <a:spcPts val="500"/>
              </a:spcAft>
              <a:defRPr sz="1170">
                <a:solidFill>
                  <a:srgbClr val="141C26"/>
                </a:solidFill>
                <a:latin typeface="Aptos"/>
              </a:defRPr>
            </a:pPr>
            <a:r>
              <a:t>• Large-range degradation filters reduce exposure in lower-quality regimes while trying to preserve the core upside.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Source Of Edge &amp; Risk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EXECUTION QUALITY BEFORE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25296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D64A5"/>
                </a:solidFill>
                <a:latin typeface="Aptos"/>
              </a:rPr>
              <a:t>Source of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5613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70" b="0">
                <a:solidFill>
                  <a:srgbClr val="141C26"/>
                </a:solidFill>
                <a:latin typeface="Aptos"/>
              </a:rPr>
              <a:t>The research seeks to exploit sessions where a visible directional impulse creates an opposing, mechanically confirmable opportunity. The initial condition is not the main profit center; the follow-on campaign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D64A5"/>
                </a:solidFill>
                <a:latin typeface="Aptos"/>
              </a:rPr>
              <a:t>Risk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36392"/>
            <a:ext cx="41148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40" b="0">
                <a:solidFill>
                  <a:srgbClr val="2D64A5"/>
                </a:solidFill>
                <a:latin typeface="Aptos"/>
              </a:rPr>
              <a:t>Three layers of risk mitigation: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41C26"/>
                </a:solidFill>
                <a:latin typeface="Aptos"/>
              </a:rPr>
              <a:t>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47872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D64A5"/>
                </a:solidFill>
                <a:latin typeface="Aptos"/>
              </a:rPr>
              <a:t>Execution parity: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547872"/>
            <a:ext cx="8321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141C26"/>
                </a:solidFill>
                <a:latin typeface="Aptos"/>
              </a:rPr>
              <a:t>Live sequencing, broker-paper fills, and saved data must reproduce the post-session review path before capital is increased.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42816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41C26"/>
                </a:solidFill>
                <a:latin typeface="Aptos"/>
              </a:rPr>
              <a:t>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242816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D64A5"/>
                </a:solidFill>
                <a:latin typeface="Aptos"/>
              </a:rPr>
              <a:t>Stress-based account sizing: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242816"/>
            <a:ext cx="8321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141C26"/>
                </a:solidFill>
                <a:latin typeface="Aptos"/>
              </a:rPr>
              <a:t>The sizing anchor is 3x historical intrabar MTM drawdown. A day that reaches the historical max stress level becomes a macro review day before continuation.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37759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41C26"/>
                </a:solidFill>
                <a:latin typeface="Aptos"/>
              </a:rPr>
              <a:t>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37759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D64A5"/>
                </a:solidFill>
                <a:latin typeface="Aptos"/>
              </a:rPr>
              <a:t>Selective regime filters: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937759"/>
            <a:ext cx="8321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141C26"/>
                </a:solidFill>
                <a:latin typeface="Aptos"/>
              </a:rPr>
              <a:t>Known degradation zones, including unusually large opening ranges, are candidates for size reduction or exclusion if they preserve upside while reducing exposure.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870448"/>
            <a:ext cx="10469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10" b="1">
                <a:solidFill>
                  <a:srgbClr val="CE9730"/>
                </a:solidFill>
                <a:latin typeface="Aptos"/>
              </a:rPr>
              <a:t>The objective of this stage is not to maximize advertised returns; it is to reduce execution risk to an acceptable level while preserving the historical edge profile.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Systems Selected For The Build/Test Runway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GATED AND UNGATED INTRADAY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99669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43000"/>
                <a:gridCol w="1417320"/>
                <a:gridCol w="1143000"/>
                <a:gridCol w="777240"/>
                <a:gridCol w="1005840"/>
                <a:gridCol w="1417320"/>
                <a:gridCol w="1051560"/>
              </a:tblGrid>
              <a:tr h="3352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System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Norm Scale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Norm Net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Norm Return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Net/DD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$1M Books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$1M Net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$1M Return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Gated intraday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5.74x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$6,799,226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733.3%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$7,107,510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710.8%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Ungated intraday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2.62x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$2,269,999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244.8%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7.34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$1,734,710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41C26"/>
                          </a:solidFill>
                          <a:latin typeface="Aptos"/>
                        </a:rPr>
                        <a:t>173.5%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2834640"/>
            <a:ext cx="52578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090672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D64A5"/>
                </a:solidFill>
                <a:latin typeface="Aptos"/>
              </a:rPr>
              <a:t>Flagship gated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566160"/>
            <a:ext cx="4480560" cy="9601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141C26"/>
                </a:solidFill>
                <a:latin typeface="Aptos"/>
              </a:defRPr>
            </a:pPr>
            <a:r>
              <a:t>• Primary research candidate.</a:t>
            </a:r>
          </a:p>
          <a:p>
            <a:pPr>
              <a:spcAft>
                <a:spcPts val="500"/>
              </a:spcAft>
              <a:defRPr sz="1180">
                <a:solidFill>
                  <a:srgbClr val="141C26"/>
                </a:solidFill>
                <a:latin typeface="Aptos"/>
              </a:defRPr>
            </a:pPr>
            <a:r>
              <a:t>• More selective and historically more capital efficient.</a:t>
            </a:r>
          </a:p>
          <a:p>
            <a:pPr>
              <a:spcAft>
                <a:spcPts val="500"/>
              </a:spcAft>
              <a:defRPr sz="1180">
                <a:solidFill>
                  <a:srgbClr val="141C26"/>
                </a:solidFill>
                <a:latin typeface="Aptos"/>
              </a:defRPr>
            </a:pPr>
            <a:r>
              <a:t>• Requires stricter sequencing/tick proof before live confidence.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834640"/>
            <a:ext cx="52578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3090672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D64A5"/>
                </a:solidFill>
                <a:latin typeface="Aptos"/>
              </a:rPr>
              <a:t>Ungated price-action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3566160"/>
            <a:ext cx="4480560" cy="9601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141C26"/>
                </a:solidFill>
                <a:latin typeface="Aptos"/>
              </a:defRPr>
            </a:pPr>
            <a:r>
              <a:t>• Secondary system and operational benchmark.</a:t>
            </a:r>
          </a:p>
          <a:p>
            <a:pPr>
              <a:spcAft>
                <a:spcPts val="500"/>
              </a:spcAft>
              <a:defRPr sz="1180">
                <a:solidFill>
                  <a:srgbClr val="141C26"/>
                </a:solidFill>
                <a:latin typeface="Aptos"/>
              </a:defRPr>
            </a:pPr>
            <a:r>
              <a:t>• Simpler all-day rule family.</a:t>
            </a:r>
          </a:p>
          <a:p>
            <a:pPr>
              <a:spcAft>
                <a:spcPts val="500"/>
              </a:spcAft>
              <a:defRPr sz="1180">
                <a:solidFill>
                  <a:srgbClr val="141C26"/>
                </a:solidFill>
                <a:latin typeface="Aptos"/>
              </a:defRPr>
            </a:pPr>
            <a:r>
              <a:t>• Useful for testing cloud runtime, OCO lifecycle, fills, and reporting.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59552"/>
            <a:ext cx="10378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546070"/>
                </a:solidFill>
                <a:latin typeface="Aptos"/>
              </a:rPr>
              <a:t>Normalized rows use the same stress-capital anchor from the research tracker; fractional scale is comparison math, not live sizing.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Founder Partner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WHY EARLY SUPPORT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105613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10" b="0">
                <a:solidFill>
                  <a:srgbClr val="141C26"/>
                </a:solidFill>
                <a:latin typeface="Aptos"/>
              </a:rPr>
              <a:t>Family and friends are taking the earliest calculated risk: funding an unproven live-test build before there is an audited managed-account record. That support creates the operating proof needed to build an auditable track record.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011680"/>
          <a:ext cx="1074420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7863840"/>
              </a:tblGrid>
              <a:tr h="325526"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Exchange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Draft founder benefit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141C26"/>
                          </a:solidFill>
                          <a:latin typeface="Aptos"/>
                        </a:rPr>
                        <a:t>Early risk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141C26"/>
                          </a:solidFill>
                          <a:latin typeface="Aptos"/>
                        </a:rPr>
                        <a:t>Priority access to validated strategy capacity if the program launches.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141C26"/>
                          </a:solidFill>
                          <a:latin typeface="Aptos"/>
                        </a:rPr>
                        <a:t>Trust before audited performance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141C26"/>
                          </a:solidFill>
                          <a:latin typeface="Aptos"/>
                        </a:rPr>
                        <a:t>Target founder terms: 0% management / 10% performance fee.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526"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141C26"/>
                          </a:solidFill>
                          <a:latin typeface="Aptos"/>
                        </a:rPr>
                        <a:t>Track-record runway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141C26"/>
                          </a:solidFill>
                          <a:latin typeface="Aptos"/>
                        </a:rPr>
                        <a:t>Ability to carry a validated allocation forward or withdraw at defined review 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528"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141C26"/>
                          </a:solidFill>
                          <a:latin typeface="Aptos"/>
                        </a:rPr>
                        <a:t>Alignment signal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141C26"/>
                          </a:solidFill>
                          <a:latin typeface="Aptos"/>
                        </a:rPr>
                        <a:t>Founder capital remains visibly aligned with the platform's long-term operating record.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68680" y="4160520"/>
            <a:ext cx="4983480" cy="1216152"/>
          </a:xfrm>
          <a:prstGeom prst="rect">
            <a:avLst/>
          </a:prstGeom>
          <a:solidFill>
            <a:srgbClr val="F6FAFD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4370832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20" b="1">
                <a:solidFill>
                  <a:srgbClr val="2D64A5"/>
                </a:solidFill>
                <a:latin typeface="Aptos"/>
              </a:rPr>
              <a:t>Founder account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736592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141C26"/>
                </a:solidFill>
                <a:latin typeface="Aptos"/>
              </a:rPr>
              <a:t>Early supporters should not be treated like later outside allocators if the firm succeeds. The intended model is a documented founder class or side letter.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4160520"/>
            <a:ext cx="4983480" cy="1216152"/>
          </a:xfrm>
          <a:prstGeom prst="rect">
            <a:avLst/>
          </a:prstGeom>
          <a:solidFill>
            <a:srgbClr val="FFF9EF"/>
          </a:solidFill>
          <a:ln w="9525">
            <a:solidFill>
              <a:srgbClr val="CE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70832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20" b="1">
                <a:solidFill>
                  <a:srgbClr val="CE9730"/>
                </a:solidFill>
                <a:latin typeface="Aptos"/>
              </a:rPr>
              <a:t>Compliance 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754880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41C26"/>
                </a:solidFill>
                <a:latin typeface="Aptos"/>
              </a:rPr>
              <a:t>No fee, capacity, withdrawal, or account-management commitment is final until counsel-approved agreements exist.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Conservative Performance Framing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TOP 3 ANNUAL NET YEARS 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95097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685800"/>
                <a:gridCol w="914400"/>
                <a:gridCol w="1965960"/>
                <a:gridCol w="1188720"/>
                <a:gridCol w="1234440"/>
                <a:gridCol w="594360"/>
              </a:tblGrid>
              <a:tr h="320040"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Tier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System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Market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Min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Window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Adv Avg/Yr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Adv Return/Yr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Corr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Nasdaq Intraday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NQ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$250,000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2021-03-04-2026-03-06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$128,249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51.3%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-0.07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Nasdaq Intraday Mini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Gated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MNQ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$50,000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2021-03-04-2026-03-03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$13,323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26.6%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-0.06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Nasdaq Intraday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Ungated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NQ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$250,000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2021-03-04-2026-03-06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$85,889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34.4%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-0.05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Nasdaq Intraday Mini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Ungated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MNQ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$50,000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2021-03-04-2026-03-06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$6,891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13.8%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141C26"/>
                          </a:solidFill>
                          <a:latin typeface="Aptos"/>
                        </a:rPr>
                        <a:t>-0.08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average_annual_return_by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620" y="3063240"/>
            <a:ext cx="4875414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715000"/>
            <a:ext cx="10149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46070"/>
                </a:solidFill>
                <a:latin typeface="Aptos"/>
              </a:rPr>
              <a:t>Full annual tables remain in the memo; the displayed average removes the three best net years before calculating the headline expected-return framing.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12-Month Funding And Cost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STONEX SCHEDULE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15568"/>
          <a:ext cx="53035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1417320"/>
              </a:tblGrid>
              <a:tr h="28085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Amount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Founder development stipend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$36,000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Segregated MNQ research/test capital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$50,000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Broker/API/exchange/commission/slippage allowance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$10,000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NFA/Series 3/registration admin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$2,500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CTA disclosure/legal/compliance/audit 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$30,000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Contingency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41C26"/>
                          </a:solidFill>
                          <a:latin typeface="Aptos"/>
                        </a:rPr>
                        <a:t>$10,000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8" y="3401568"/>
            <a:ext cx="4114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D64A5"/>
                </a:solidFill>
                <a:latin typeface="Aptos"/>
              </a:rPr>
              <a:t>Target raise: $145,000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886200"/>
            <a:ext cx="49377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0">
                <a:solidFill>
                  <a:srgbClr val="141C26"/>
                </a:solidFill>
                <a:latin typeface="Aptos"/>
              </a:rPr>
              <a:t>The first runway funds engineering, data, CTA registration/disclosure prep, and MNQ test capital. NQ remains a future tier after execution evidence.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115568"/>
          <a:ext cx="48920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1828800"/>
              </a:tblGrid>
              <a:tr h="3276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StoneX Item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Fee</a:t>
                      </a:r>
                    </a:p>
                  </a:txBody>
                  <a:tcPr>
                    <a:solidFill>
                      <a:srgbClr val="11243A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41C26"/>
                          </a:solidFill>
                          <a:latin typeface="Aptos"/>
                        </a:rPr>
                        <a:t>$2,000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41C26"/>
                          </a:solidFill>
                          <a:latin typeface="Aptos"/>
                        </a:rPr>
                        <a:t>$5,000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41C26"/>
                          </a:solidFill>
                          <a:latin typeface="Aptos"/>
                        </a:rPr>
                        <a:t>$1.29/side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41C26"/>
                          </a:solidFill>
                          <a:latin typeface="Aptos"/>
                        </a:rPr>
                        <a:t>$0.50/side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41C26"/>
                          </a:solidFill>
                          <a:latin typeface="Aptos"/>
                        </a:rPr>
                        <a:t>$49.95/month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82512" y="3703320"/>
            <a:ext cx="4572000" cy="1298448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190">
                <a:solidFill>
                  <a:srgbClr val="141C26"/>
                </a:solidFill>
                <a:latin typeface="Aptos"/>
              </a:defRPr>
            </a:pPr>
            <a:r>
              <a:t>• Fee schedule is founder-supplied and requires account-opening confirmation.</a:t>
            </a:r>
          </a:p>
          <a:p>
            <a:pPr>
              <a:spcAft>
                <a:spcPts val="500"/>
              </a:spcAft>
              <a:defRPr sz="1190">
                <a:solidFill>
                  <a:srgbClr val="141C26"/>
                </a:solidFill>
                <a:latin typeface="Aptos"/>
              </a:defRPr>
            </a:pPr>
            <a:r>
              <a:t>• CTA registration/disclosure reserve is now a first-class cost before client trading.</a:t>
            </a:r>
          </a:p>
          <a:p>
            <a:pPr>
              <a:spcAft>
                <a:spcPts val="500"/>
              </a:spcAft>
              <a:defRPr sz="1190">
                <a:solidFill>
                  <a:srgbClr val="141C26"/>
                </a:solidFill>
                <a:latin typeface="Aptos"/>
              </a:defRPr>
            </a:pPr>
            <a:r>
              <a:t>• Commission-only model estimates are exported in the package exhibits.</a:t>
            </a:r>
          </a:p>
          <a:p>
            <a:pPr>
              <a:spcAft>
                <a:spcPts val="500"/>
              </a:spcAft>
              <a:defRPr sz="1190">
                <a:solidFill>
                  <a:srgbClr val="141C26"/>
                </a:solidFill>
                <a:latin typeface="Aptos"/>
              </a:defRPr>
            </a:pPr>
            <a:r>
              <a:t>• Exchange, NFA, clearing, market-data, margin-interest, wire, and slippage costs remain live-account assumptions.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12-Month Validation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EVIDENCE BEFORE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2331720" cy="3154680"/>
          </a:xfrm>
          <a:prstGeom prst="rect">
            <a:avLst/>
          </a:prstGeom>
          <a:solidFill>
            <a:srgbClr val="FCFD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6583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7A8089"/>
                </a:solidFill>
                <a:latin typeface="Aptos"/>
              </a:rPr>
              <a:t>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72184"/>
            <a:ext cx="731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80" b="1">
                <a:solidFill>
                  <a:srgbClr val="2D64A5"/>
                </a:solidFill>
                <a:latin typeface="Aptos"/>
              </a:rPr>
              <a:t>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1874519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11243A"/>
                </a:solidFill>
                <a:latin typeface="Aptos"/>
              </a:rPr>
              <a:t>Build The 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61488"/>
            <a:ext cx="1901952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141C26"/>
                </a:solidFill>
                <a:latin typeface="Aptos"/>
              </a:rPr>
              <a:t>CTA counsel kickoff, Series 3/NFA prep, source audit, CQG/StoneX adapter, feed shadowing, and replay parity.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298448"/>
            <a:ext cx="2331720" cy="3154680"/>
          </a:xfrm>
          <a:prstGeom prst="rect">
            <a:avLst/>
          </a:prstGeom>
          <a:solidFill>
            <a:srgbClr val="FCFD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554480"/>
            <a:ext cx="6583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7A8089"/>
                </a:solidFill>
                <a:latin typeface="Aptos"/>
              </a:rPr>
              <a:t>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472184"/>
            <a:ext cx="731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80" b="1">
                <a:solidFill>
                  <a:srgbClr val="2D64A5"/>
                </a:solidFill>
                <a:latin typeface="Aptos"/>
              </a:rPr>
              <a:t>4-6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2148840"/>
            <a:ext cx="1874519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11243A"/>
                </a:solidFill>
                <a:latin typeface="Aptos"/>
              </a:rPr>
              <a:t>Paper The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761488"/>
            <a:ext cx="1901952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141C26"/>
                </a:solidFill>
                <a:latin typeface="Aptos"/>
              </a:rPr>
              <a:t>Disclosure draft/review, MNQ broker-paper trial, restart drills, emergency flatten drills, slippage/cost audit, and first readiness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8504" y="1298448"/>
            <a:ext cx="2331720" cy="3154680"/>
          </a:xfrm>
          <a:prstGeom prst="rect">
            <a:avLst/>
          </a:prstGeom>
          <a:solidFill>
            <a:srgbClr val="FCFD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554480"/>
            <a:ext cx="6583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7A8089"/>
                </a:solidFill>
                <a:latin typeface="Aptos"/>
              </a:rPr>
              <a:t>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4" y="1472184"/>
            <a:ext cx="731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80" b="1">
                <a:solidFill>
                  <a:srgbClr val="2D64A5"/>
                </a:solidFill>
                <a:latin typeface="Aptos"/>
              </a:rPr>
              <a:t>7-9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148840"/>
            <a:ext cx="1874519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11243A"/>
                </a:solidFill>
                <a:latin typeface="Aptos"/>
              </a:rPr>
              <a:t>Extend The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2761488"/>
            <a:ext cx="1901952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141C26"/>
                </a:solidFill>
                <a:latin typeface="Aptos"/>
              </a:rPr>
              <a:t>Longer funded-paper or small-live MNQ observation, ungated comparison, investor reporting packet, and incident cadence.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31720" cy="3154680"/>
          </a:xfrm>
          <a:prstGeom prst="rect">
            <a:avLst/>
          </a:prstGeom>
          <a:solidFill>
            <a:srgbClr val="FCFD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7" y="1554480"/>
            <a:ext cx="6583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7A8089"/>
                </a:solidFill>
                <a:latin typeface="Aptos"/>
              </a:rPr>
              <a:t>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9255" y="1472184"/>
            <a:ext cx="731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80" b="1">
                <a:solidFill>
                  <a:srgbClr val="2D64A5"/>
                </a:solidFill>
                <a:latin typeface="Aptos"/>
              </a:rPr>
              <a:t>10-12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2148840"/>
            <a:ext cx="1874519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11243A"/>
                </a:solidFill>
                <a:latin typeface="Aptos"/>
              </a:rPr>
              <a:t>Decision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2761488"/>
            <a:ext cx="1901952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141C26"/>
                </a:solidFill>
                <a:latin typeface="Aptos"/>
              </a:rPr>
              <a:t>Regime review, QQQ comparison refresh, compliance/accounting packet, registration/disclosure status, and final MNQ/NQ go/no-go.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38928"/>
            <a:ext cx="106527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40" b="0">
                <a:solidFill>
                  <a:srgbClr val="141C26"/>
                </a:solidFill>
                <a:latin typeface="Aptos"/>
              </a:rPr>
              <a:t>Reporting templates cover equity/margin status, daily P&amp;L, annual and monthly returns, open exposure, fill reconciliation, and operational incidents.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0">
                <a:solidFill>
                  <a:srgbClr val="2D64A5"/>
                </a:solidFill>
                <a:latin typeface="Aptos"/>
              </a:rPr>
              <a:t>Founder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96112"/>
            <a:ext cx="8092440" cy="10972"/>
          </a:xfrm>
          <a:prstGeom prst="rect">
            <a:avLst/>
          </a:prstGeom>
          <a:solidFill>
            <a:srgbClr val="BEC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57784"/>
            <a:ext cx="2468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AAAEB5"/>
                </a:solidFill>
                <a:latin typeface="Aptos"/>
              </a:rPr>
              <a:t>POE KGENGWENYANE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6583680"/>
            <a:ext cx="8138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650" b="0">
                <a:solidFill>
                  <a:srgbClr val="898B90"/>
                </a:solidFill>
                <a:latin typeface="Aptos"/>
              </a:rPr>
              <a:t>CONFIDENTIAL RESEARCH DRAFT - HYPOTHETICAL/BACKTESTED PERFORMANCE - COUNSEL REVIEW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3794760" cy="4434840"/>
          </a:xfrm>
          <a:prstGeom prst="rect">
            <a:avLst/>
          </a:prstGeom>
          <a:solidFill>
            <a:srgbClr val="FCFD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D64A5"/>
                </a:solidFill>
                <a:latin typeface="Aptos"/>
              </a:rPr>
              <a:t>Market Research &amp;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154680" cy="160020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41C26"/>
                </a:solidFill>
                <a:latin typeface="Aptos"/>
              </a:defRPr>
            </a:pPr>
            <a:r>
              <a:t>• Four years of market research across forex, futures, and systematic trade design.</a:t>
            </a:r>
          </a:p>
          <a:p>
            <a:pPr>
              <a:spcAft>
                <a:spcPts val="500"/>
              </a:spcAft>
              <a:defRPr sz="1120">
                <a:solidFill>
                  <a:srgbClr val="141C26"/>
                </a:solidFill>
                <a:latin typeface="Aptos"/>
              </a:defRPr>
            </a:pPr>
            <a:r>
              <a:t>• Futures systems developer focused on broker-like replay, automated execution, and reporting.</a:t>
            </a:r>
          </a:p>
          <a:p>
            <a:pPr>
              <a:spcAft>
                <a:spcPts val="500"/>
              </a:spcAft>
              <a:defRPr sz="1120">
                <a:solidFill>
                  <a:srgbClr val="141C26"/>
                </a:solidFill>
                <a:latin typeface="Aptos"/>
              </a:defRPr>
            </a:pPr>
            <a:r>
              <a:t>• Current objective: convert research into a monitored, reviewable, multi-tenant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24528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2D64A5"/>
                </a:solidFill>
                <a:latin typeface="Aptos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3108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40" b="0">
                <a:solidFill>
                  <a:srgbClr val="141C26"/>
                </a:solidFill>
                <a:latin typeface="Aptos"/>
              </a:rPr>
              <a:t>tshepok13@gmail.com
linkedin.com/in/poe-k-722858111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143000"/>
            <a:ext cx="65836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444752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D64A5"/>
                </a:solidFill>
                <a:latin typeface="Aptos"/>
              </a:rPr>
              <a:t>Relevant Operating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20240"/>
            <a:ext cx="5760720" cy="3090672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141C26"/>
                </a:solidFill>
                <a:latin typeface="Aptos"/>
              </a:defRPr>
            </a:pPr>
            <a:r>
              <a:t>• Security-critical distributed systems at Thales across TypeScript, Python, and C++.</a:t>
            </a:r>
          </a:p>
          <a:p>
            <a:pPr>
              <a:spcAft>
                <a:spcPts val="500"/>
              </a:spcAft>
              <a:defRPr sz="1060">
                <a:solidFill>
                  <a:srgbClr val="141C26"/>
                </a:solidFill>
                <a:latin typeface="Aptos"/>
              </a:defRPr>
            </a:pPr>
            <a:r>
              <a:t>• Automated test frameworks for REST APIs, event-driven microservices, OpenAPI, pytest, Jest/Supertest, and BDD/Behave.</a:t>
            </a:r>
          </a:p>
          <a:p>
            <a:pPr>
              <a:spcAft>
                <a:spcPts val="500"/>
              </a:spcAft>
              <a:defRPr sz="1060">
                <a:solidFill>
                  <a:srgbClr val="141C26"/>
                </a:solidFill>
                <a:latin typeface="Aptos"/>
              </a:defRPr>
            </a:pPr>
            <a:r>
              <a:t>• Backend platform engineering across Elixir/Phoenix, Ruby on Rails, Node/NestJS, AWS, OAuth, metrics, fraud controls, and service migrations.</a:t>
            </a:r>
          </a:p>
          <a:p>
            <a:pPr>
              <a:spcAft>
                <a:spcPts val="500"/>
              </a:spcAft>
              <a:defRPr sz="1060">
                <a:solidFill>
                  <a:srgbClr val="141C26"/>
                </a:solidFill>
                <a:latin typeface="Aptos"/>
              </a:defRPr>
            </a:pPr>
            <a:r>
              <a:t>• Quality automation and release testing experience in cybersecurity environments.</a:t>
            </a:r>
          </a:p>
          <a:p>
            <a:pPr>
              <a:spcAft>
                <a:spcPts val="500"/>
              </a:spcAft>
              <a:defRPr sz="1060">
                <a:solidFill>
                  <a:srgbClr val="141C26"/>
                </a:solidFill>
                <a:latin typeface="Aptos"/>
              </a:defRPr>
            </a:pPr>
            <a:r>
              <a:t>• Bachelor of Science in Computer Science; Bachelor's Degree in Biomedical and Mechanical Engineering.</a:t>
            </a:r>
          </a:p>
          <a:p>
            <a:pPr>
              <a:spcAft>
                <a:spcPts val="500"/>
              </a:spcAft>
              <a:defRPr sz="1060">
                <a:solidFill>
                  <a:srgbClr val="141C26"/>
                </a:solidFill>
                <a:latin typeface="Aptos"/>
              </a:defRPr>
            </a:pPr>
            <a:r>
              <a:t>• Practical infrastructure skills include Kubernetes, NoSQL, REST APIs, Docker, CI/CD, monitoring, and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